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Kanit Light"/>
      <p:regular r:id="rId13"/>
      <p:bold r:id="rId14"/>
      <p:italic r:id="rId15"/>
      <p:boldItalic r:id="rId16"/>
    </p:embeddedFont>
    <p:embeddedFont>
      <p:font typeface="Marte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th1YUL1AtBjPf0bTKZseWD2g4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Kanit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KanitLight-italic.fntdata"/><Relationship Id="rId14" Type="http://schemas.openxmlformats.org/officeDocument/2006/relationships/font" Target="fonts/KanitLight-bold.fntdata"/><Relationship Id="rId17" Type="http://schemas.openxmlformats.org/officeDocument/2006/relationships/font" Target="fonts/MartelSans-regular.fntdata"/><Relationship Id="rId16" Type="http://schemas.openxmlformats.org/officeDocument/2006/relationships/font" Target="fonts/KanitLight-boldItalic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Martel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Teoría – Queries simples y operadores en MongoDB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623768" y="490061"/>
            <a:ext cx="6865739" cy="55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500"/>
              <a:buFont typeface="Kanit Light"/>
              <a:buNone/>
            </a:pPr>
            <a:r>
              <a:rPr b="0" i="0" lang="en-US" sz="35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¿Qué son las queries en MongoDB?</a:t>
            </a:r>
            <a:endParaRPr b="0" i="0" sz="35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623768" y="1474589"/>
            <a:ext cx="6474023" cy="570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Las </a:t>
            </a: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queries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son comandos para </a:t>
            </a: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buscar y filtrar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documentos dentro de una colección.</a:t>
            </a:r>
            <a:endParaRPr b="0" i="0" sz="14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623768" y="2205276"/>
            <a:ext cx="647402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Permiten definir </a:t>
            </a: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criterios específicos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para encontrar datos.</a:t>
            </a:r>
            <a:endParaRPr b="0" i="0" sz="140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623768" y="2650808"/>
            <a:ext cx="6474023" cy="59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El método principal es </a:t>
            </a:r>
            <a:r>
              <a:rPr b="0" i="0" lang="en-US" sz="14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.find()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que devuelve los documentos que cumplen la condición de la consulta.</a:t>
            </a:r>
            <a:endParaRPr b="0" i="0" sz="14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623768" y="3404354"/>
            <a:ext cx="647402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0228" y="1514713"/>
            <a:ext cx="6474023" cy="647402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623768" y="8389739"/>
            <a:ext cx="1338286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793790" y="2486739"/>
            <a:ext cx="973276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¿Qué son los operadores en MongoDB?</a:t>
            </a:r>
            <a:endParaRPr b="0" i="0" sz="4450" u="none" cap="none" strike="noStrike"/>
          </a:p>
        </p:txBody>
      </p:sp>
      <p:sp>
        <p:nvSpPr>
          <p:cNvPr id="68" name="Google Shape;68;p3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93790" y="3649147"/>
            <a:ext cx="60960" cy="2093714"/>
          </a:xfrm>
          <a:prstGeom prst="roundRect">
            <a:avLst>
              <a:gd fmla="val 15627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112044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Definen condiciones</a:t>
            </a:r>
            <a:endParaRPr b="0" i="0" sz="220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1112044" y="4396859"/>
            <a:ext cx="36208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Son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símbolos o palabras clave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que especifican las reglas de la consulta.</a:t>
            </a:r>
            <a:endParaRPr b="0" i="0" sz="17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216962" y="3649147"/>
            <a:ext cx="60960" cy="2093714"/>
          </a:xfrm>
          <a:prstGeom prst="roundRect">
            <a:avLst>
              <a:gd fmla="val 15627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535216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Permiten comparar</a:t>
            </a:r>
            <a:endParaRPr b="0" i="0" sz="22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5535216" y="4396859"/>
            <a:ext cx="36208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Se usan para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evaluar y combinar campos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dentro de los documentos.</a:t>
            </a:r>
            <a:endParaRPr b="0" i="0" sz="175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fmla="val 4550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640133" y="3649147"/>
            <a:ext cx="60960" cy="2093714"/>
          </a:xfrm>
          <a:prstGeom prst="roundRect">
            <a:avLst>
              <a:gd fmla="val 15627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958388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Consultas complejas</a:t>
            </a:r>
            <a:endParaRPr b="0" i="0" sz="22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9958388" y="4396859"/>
            <a:ext cx="36208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Facilitan la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extracción precisa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de información relevante.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793790" y="1479709"/>
            <a:ext cx="76428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Operadores de comparación (I)</a:t>
            </a:r>
            <a:endParaRPr b="0" i="0" sz="445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793790" y="2642116"/>
            <a:ext cx="13042821" cy="4107656"/>
          </a:xfrm>
          <a:prstGeom prst="roundRect">
            <a:avLst>
              <a:gd fmla="val 231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801410" y="2649736"/>
            <a:ext cx="13027581" cy="6884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028343" y="2793444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$eq</a:t>
            </a:r>
            <a:endParaRPr b="0" i="0" sz="175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3637598" y="2793444"/>
            <a:ext cx="9964579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Igual a un valor específico.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edad: { $eq: 30 } }</a:t>
            </a:r>
            <a:endParaRPr b="0" i="0" sz="175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801410" y="3338155"/>
            <a:ext cx="13027581" cy="6884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028343" y="3481864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$ne</a:t>
            </a:r>
            <a:endParaRPr b="0" i="0" sz="175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3637598" y="3481864"/>
            <a:ext cx="9964579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Diferente de un valor.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estado: { $ne: "activo" } }</a:t>
            </a:r>
            <a:endParaRPr b="0" i="0" sz="175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801410" y="4026575"/>
            <a:ext cx="13027581" cy="6884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028343" y="4170283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$gt</a:t>
            </a:r>
            <a:endParaRPr b="0" i="0" sz="175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3637598" y="4170283"/>
            <a:ext cx="9964579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Mayor que.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salario: { $gt: 5000 } }</a:t>
            </a:r>
            <a:endParaRPr b="0" i="0" sz="17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801410" y="4714994"/>
            <a:ext cx="13027581" cy="6884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028343" y="4858703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$gte</a:t>
            </a:r>
            <a:endParaRPr b="0" i="0" sz="17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3637598" y="4858703"/>
            <a:ext cx="9964579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Mayor o igual que.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salario: { $gte: 5000 } }</a:t>
            </a:r>
            <a:endParaRPr b="0" i="0" sz="17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801410" y="5403413"/>
            <a:ext cx="13027581" cy="6884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028343" y="5547122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$lt</a:t>
            </a:r>
            <a:endParaRPr b="0" i="0" sz="17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3637598" y="5547122"/>
            <a:ext cx="9964579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Menor que.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edad: { $lt: 18 } }</a:t>
            </a:r>
            <a:endParaRPr b="0" i="0" sz="17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801410" y="6091833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28343" y="6235541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$lte</a:t>
            </a:r>
            <a:endParaRPr b="0" i="0" sz="17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3637598" y="6235541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Menor o igual que. { edad: { $lte: 18 } }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793790" y="100143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Operadores lógicos</a:t>
            </a:r>
            <a:endParaRPr b="0" i="0" sz="445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793790" y="2504003"/>
            <a:ext cx="6407944" cy="2116693"/>
          </a:xfrm>
          <a:prstGeom prst="roundRect">
            <a:avLst>
              <a:gd fmla="val 691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93790" y="2473523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657540" y="2163842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1614" y="2333982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1051084" y="30709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$and</a:t>
            </a:r>
            <a:endParaRPr b="0" i="0" sz="220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1051084" y="3561398"/>
            <a:ext cx="5893356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Cumple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todas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las condiciones.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$and: \[ { edad: { $gt: 18 } }, { activo: true } \] }</a:t>
            </a:r>
            <a:endParaRPr b="0" i="0" sz="175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7428548" y="2504003"/>
            <a:ext cx="6408063" cy="2116693"/>
          </a:xfrm>
          <a:prstGeom prst="roundRect">
            <a:avLst>
              <a:gd fmla="val 691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428548" y="2473523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0292298" y="2163842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371" y="2333982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7685842" y="30709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$or</a:t>
            </a:r>
            <a:endParaRPr b="0" i="0" sz="22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7685842" y="3561398"/>
            <a:ext cx="5893475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Cumple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al menos una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condición.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$or: \[ { ciudad: "Madrid" }, { ciudad: "Valencia" } \] }</a:t>
            </a:r>
            <a:endParaRPr b="0" i="0" sz="17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793790" y="5187672"/>
            <a:ext cx="6407944" cy="2040493"/>
          </a:xfrm>
          <a:prstGeom prst="roundRect">
            <a:avLst>
              <a:gd fmla="val 71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93790" y="5157192"/>
            <a:ext cx="6407944" cy="121920"/>
          </a:xfrm>
          <a:prstGeom prst="roundRect">
            <a:avLst>
              <a:gd fmla="val 7813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657540" y="484751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1614" y="5017651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051084" y="57546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$not</a:t>
            </a:r>
            <a:endParaRPr b="0" i="0" sz="22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1051084" y="6245066"/>
            <a:ext cx="5893356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Invierte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la condición.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edad: { $not: { $gt: 30 } } }</a:t>
            </a:r>
            <a:endParaRPr b="0" i="0" sz="17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428548" y="5187672"/>
            <a:ext cx="6408063" cy="2040493"/>
          </a:xfrm>
          <a:prstGeom prst="roundRect">
            <a:avLst>
              <a:gd fmla="val 71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428548" y="5157192"/>
            <a:ext cx="6408063" cy="121920"/>
          </a:xfrm>
          <a:prstGeom prst="roundRect">
            <a:avLst>
              <a:gd fmla="val 78139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292298" y="4847511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96371" y="5017651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7685842" y="57546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$nor</a:t>
            </a:r>
            <a:endParaRPr b="0" i="0" sz="220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7685842" y="6245066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cumple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ninguna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condición. { $nor: \[ { estado: "inactivo" }, { edad: { $lt: 18 } } \] }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793790" y="1422916"/>
            <a:ext cx="580132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Operadores para arrays</a:t>
            </a:r>
            <a:endParaRPr b="0" i="0" sz="44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93790" y="2585323"/>
            <a:ext cx="13042821" cy="4221242"/>
          </a:xfrm>
          <a:prstGeom prst="roundRect">
            <a:avLst>
              <a:gd fmla="val 225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01410" y="2592943"/>
            <a:ext cx="13027581" cy="6884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028343" y="2736652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$all</a:t>
            </a:r>
            <a:endParaRPr b="0" i="0" sz="175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4288988" y="2736652"/>
            <a:ext cx="9313188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Array contiene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todos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los elementos.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etiquetas: { $all: ["mongodb", "base de datos"] } }</a:t>
            </a:r>
            <a:endParaRPr b="0" i="0" sz="175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801410" y="3281363"/>
            <a:ext cx="13027581" cy="10894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028343" y="3425071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$elemMatch</a:t>
            </a:r>
            <a:endParaRPr b="0" i="0" sz="1750" u="none" cap="none" strike="noStrike"/>
          </a:p>
        </p:txBody>
      </p:sp>
      <p:sp>
        <p:nvSpPr>
          <p:cNvPr id="147" name="Google Shape;147;p6"/>
          <p:cNvSpPr/>
          <p:nvPr/>
        </p:nvSpPr>
        <p:spPr>
          <a:xfrm>
            <a:off x="4288988" y="3425071"/>
            <a:ext cx="9313188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Array contiene al menos un elemento que cumple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todas las condiciones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anidadas.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notas: { $elemMatch: { materia: "Matemáticas", nota: { $gt: 8 } } } }</a:t>
            </a:r>
            <a:endParaRPr b="0" i="0" sz="175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801410" y="4370784"/>
            <a:ext cx="13027581" cy="6884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028343" y="4514493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$in</a:t>
            </a:r>
            <a:endParaRPr b="0" i="0" sz="17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4288988" y="4514493"/>
            <a:ext cx="9313188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Coincide con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cualquiera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de los valores.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ciudad: { $in: ["Madrid", "Barcelona"] } }</a:t>
            </a:r>
            <a:endParaRPr b="0" i="0" sz="175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801410" y="5059204"/>
            <a:ext cx="13027581" cy="10894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028343" y="5202912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$nin</a:t>
            </a:r>
            <a:endParaRPr b="0" i="0" sz="175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4288988" y="5202912"/>
            <a:ext cx="9313188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coincide con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ninguno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de los valores.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categoría: { $nin: ["descatalogado", "agotado"] } }</a:t>
            </a:r>
            <a:endParaRPr b="0" i="0" sz="175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801410" y="6148626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28343" y="6292334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$size</a:t>
            </a:r>
            <a:endParaRPr b="0" i="0" sz="175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4288988" y="6292334"/>
            <a:ext cx="93131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Array tiene un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tamaño específico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. { comentarios: { $size: 3 } }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793790" y="1398389"/>
            <a:ext cx="101653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Operadores en updates (actualizaciones)</a:t>
            </a:r>
            <a:endParaRPr b="0" i="0" sz="4450" u="none" cap="none" strike="noStrike"/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60796"/>
            <a:ext cx="226814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793790" y="2915841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93790" y="30901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$set</a:t>
            </a:r>
            <a:endParaRPr b="0" i="0" sz="220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793790" y="3580567"/>
            <a:ext cx="4196358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Modifica el valor de un campo.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$set: { estado: "activo" } }</a:t>
            </a:r>
            <a:endParaRPr b="0" i="0" sz="1750" u="none" cap="none" strike="noStrike"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962" y="2560796"/>
            <a:ext cx="226814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5216962" y="2915841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16962" y="30901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$unset</a:t>
            </a:r>
            <a:endParaRPr b="0" i="0" sz="220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5216962" y="3580567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Borra un campo.{ $unset: { carrera: ""</a:t>
            </a:r>
            <a:endParaRPr b="0" i="0" sz="175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5216962" y="407955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}}</a:t>
            </a:r>
            <a:endParaRPr b="0" i="0" sz="1750" u="none" cap="none" strike="noStrike"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0133" y="2560796"/>
            <a:ext cx="226814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9640133" y="2915841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9640133" y="30901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$inc</a:t>
            </a:r>
            <a:endParaRPr b="0" i="0" sz="22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9640133" y="3580567"/>
            <a:ext cx="4196358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Incrementa un valor numérico.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$inc: { visitas: 1 } }</a:t>
            </a:r>
            <a:endParaRPr b="0" i="0" sz="1750" u="none" cap="none" strike="noStrike"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839295"/>
            <a:ext cx="226814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793790" y="5194340"/>
            <a:ext cx="6407944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93790" y="53686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$push</a:t>
            </a:r>
            <a:endParaRPr b="0" i="0" sz="22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793790" y="5859066"/>
            <a:ext cx="6407944" cy="80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Añade un elemento a un array. </a:t>
            </a:r>
            <a:r>
              <a:rPr b="0" i="0" lang="en-US" sz="17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$push: { etiquetas: "nuevo" } }</a:t>
            </a:r>
            <a:endParaRPr b="0" i="0" sz="1750" u="none" cap="none" strike="noStrike"/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8548" y="4839295"/>
            <a:ext cx="226814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7428548" y="5194340"/>
            <a:ext cx="6407944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428548" y="53686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$pull</a:t>
            </a:r>
            <a:endParaRPr b="0" i="0" sz="22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7428548" y="5859066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Elimina elementos de un array que coincidan con la condición. { $pull: { etiquetas: "antiguo" } }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8064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638532" y="2783562"/>
            <a:ext cx="8366760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550"/>
              <a:buFont typeface="Kanit Light"/>
              <a:buNone/>
            </a:pPr>
            <a:r>
              <a:rPr b="0" i="0" lang="en-US" sz="35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Ejemplo práctico combinando operadores</a:t>
            </a:r>
            <a:endParaRPr b="0" i="0" sz="35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912138" y="3832503"/>
            <a:ext cx="13079730" cy="29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Encontrar usuarios mayores de 25 años en Madrid </a:t>
            </a: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Y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que tienen "premium" entre sus suscripciones, </a:t>
            </a:r>
            <a:r>
              <a:rPr b="0" i="0" lang="en-US" sz="1400" u="none" cap="none" strike="noStrike">
                <a:solidFill>
                  <a:srgbClr val="437066"/>
                </a:solidFill>
                <a:latin typeface="Martel Sans"/>
                <a:ea typeface="Martel Sans"/>
                <a:cs typeface="Martel Sans"/>
                <a:sym typeface="Martel Sans"/>
              </a:rPr>
              <a:t>O</a:t>
            </a: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que el campo "email" no exista.</a:t>
            </a:r>
            <a:endParaRPr b="0" i="0" sz="140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638532" y="3627239"/>
            <a:ext cx="22860" cy="70235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38532" y="4534853"/>
            <a:ext cx="13353336" cy="3191828"/>
          </a:xfrm>
          <a:prstGeom prst="roundRect">
            <a:avLst>
              <a:gd fmla="val 240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29483" y="4534853"/>
            <a:ext cx="13371433" cy="3191828"/>
          </a:xfrm>
          <a:prstGeom prst="roundRect">
            <a:avLst>
              <a:gd fmla="val 85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811887" y="4671655"/>
            <a:ext cx="13006626" cy="2918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Consolas"/>
              <a:buNone/>
            </a:pPr>
            <a:r>
              <a:t/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2025-08-24T22:52:31Z</dcterms:created>
</cp:coreProperties>
</file>